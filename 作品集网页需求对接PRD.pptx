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1cdf0cfc5487b" /><Relationship Type="http://schemas.openxmlformats.org/officeDocument/2006/relationships/extended-properties" Target="/docProps/app.xml" Id="R6073da4e59bf481b" /><Relationship Type="http://schemas.openxmlformats.org/officeDocument/2006/relationships/officeDocument" Target="/ppt/presentation.xml" Id="R4e52e2c717ce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49debd30cf47d0"/>
  </p:sldMasterIdLst>
  <p:notesMasterIdLst>
    <p:notesMasterId xmlns:r="http://schemas.openxmlformats.org/officeDocument/2006/relationships" r:id="R0fc946d53a1e4b00"/>
  </p:notesMasterIdLst>
  <p:sldIdLst>
    <p:sldId xmlns:r="http://schemas.openxmlformats.org/officeDocument/2006/relationships" id="256" r:id="R0bef5c96f4a94274"/>
    <p:sldId xmlns:r="http://schemas.openxmlformats.org/officeDocument/2006/relationships" id="257" r:id="R0eefda50603f49b1"/>
    <p:sldId xmlns:r="http://schemas.openxmlformats.org/officeDocument/2006/relationships" id="258" r:id="R18589f439b904f0d"/>
    <p:sldId xmlns:r="http://schemas.openxmlformats.org/officeDocument/2006/relationships" id="259" r:id="Rfd031e3d0e7a4eb7"/>
    <p:sldId xmlns:r="http://schemas.openxmlformats.org/officeDocument/2006/relationships" id="260" r:id="R5d204df651dc43db"/>
    <p:sldId xmlns:r="http://schemas.openxmlformats.org/officeDocument/2006/relationships" id="261" r:id="R28f3672e57604dbf"/>
    <p:sldId xmlns:r="http://schemas.openxmlformats.org/officeDocument/2006/relationships" id="262" r:id="R143d3b482d45462a"/>
    <p:sldId xmlns:r="http://schemas.openxmlformats.org/officeDocument/2006/relationships" id="263" r:id="R832dfb0e618d4c6e"/>
    <p:sldId xmlns:r="http://schemas.openxmlformats.org/officeDocument/2006/relationships" id="264" r:id="R131b3fdde9f7470e"/>
    <p:sldId xmlns:r="http://schemas.openxmlformats.org/officeDocument/2006/relationships" id="265" r:id="R70a0a6189faf4035"/>
    <p:sldId xmlns:r="http://schemas.openxmlformats.org/officeDocument/2006/relationships" id="266" r:id="Rb1d236d179ad4526"/>
    <p:sldId xmlns:r="http://schemas.openxmlformats.org/officeDocument/2006/relationships" id="267" r:id="Rfdd6f7a91ecf4b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61977738847d2" /><Relationship Type="http://schemas.openxmlformats.org/officeDocument/2006/relationships/slideMaster" Target="/ppt/slideMasters/slideMaster1.xml" Id="R6949debd30cf47d0" /><Relationship Type="http://schemas.openxmlformats.org/officeDocument/2006/relationships/notesMaster" Target="/ppt/notesMasters/notesMaster1.xml" Id="R0fc946d53a1e4b00" /><Relationship Type="http://schemas.openxmlformats.org/officeDocument/2006/relationships/presProps" Target="/ppt/presProps.xml" Id="Rb57ed2ce2e6e4c42" /><Relationship Type="http://schemas.openxmlformats.org/officeDocument/2006/relationships/tableStyles" Target="/ppt/tableStyles.xml" Id="Re6c29d8a76074eb4" /><Relationship Type="http://schemas.openxmlformats.org/officeDocument/2006/relationships/slide" Target="/ppt/slides/slide1.xml" Id="R0bef5c96f4a94274" /><Relationship Type="http://schemas.openxmlformats.org/officeDocument/2006/relationships/slide" Target="/ppt/slides/slide2.xml" Id="R0eefda50603f49b1" /><Relationship Type="http://schemas.openxmlformats.org/officeDocument/2006/relationships/slide" Target="/ppt/slides/slide3.xml" Id="R18589f439b904f0d" /><Relationship Type="http://schemas.openxmlformats.org/officeDocument/2006/relationships/slide" Target="/ppt/slides/slide4.xml" Id="Rfd031e3d0e7a4eb7" /><Relationship Type="http://schemas.openxmlformats.org/officeDocument/2006/relationships/slide" Target="/ppt/slides/slide5.xml" Id="R5d204df651dc43db" /><Relationship Type="http://schemas.openxmlformats.org/officeDocument/2006/relationships/slide" Target="/ppt/slides/slide6.xml" Id="R28f3672e57604dbf" /><Relationship Type="http://schemas.openxmlformats.org/officeDocument/2006/relationships/slide" Target="/ppt/slides/slide7.xml" Id="R143d3b482d45462a" /><Relationship Type="http://schemas.openxmlformats.org/officeDocument/2006/relationships/slide" Target="/ppt/slides/slide8.xml" Id="R832dfb0e618d4c6e" /><Relationship Type="http://schemas.openxmlformats.org/officeDocument/2006/relationships/slide" Target="/ppt/slides/slide9.xml" Id="R131b3fdde9f7470e" /><Relationship Type="http://schemas.openxmlformats.org/officeDocument/2006/relationships/slide" Target="/ppt/slides/slide10.xml" Id="R70a0a6189faf4035" /><Relationship Type="http://schemas.openxmlformats.org/officeDocument/2006/relationships/slide" Target="/ppt/slides/slide11.xml" Id="Rb1d236d179ad4526" /><Relationship Type="http://schemas.openxmlformats.org/officeDocument/2006/relationships/slide" Target="/ppt/slides/slide12.xml" Id="Rfdd6f7a91ecf4b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3b6d0f136f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bbb62b6064cec" /><Relationship Type="http://schemas.openxmlformats.org/officeDocument/2006/relationships/notesMaster" Target="/ppt/notesMasters/notesMaster1.xml" Id="R47afabf94187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6dfafc5e74ef1" /><Relationship Type="http://schemas.openxmlformats.org/officeDocument/2006/relationships/notesMaster" Target="/ppt/notesMasters/notesMaster1.xml" Id="R3e55a552411b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b2ad2eb0a46cf" /><Relationship Type="http://schemas.openxmlformats.org/officeDocument/2006/relationships/notesMaster" Target="/ppt/notesMasters/notesMaster1.xml" Id="Rd62d3181169a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ef24fb1b1042c3" /><Relationship Type="http://schemas.openxmlformats.org/officeDocument/2006/relationships/notesMaster" Target="/ppt/notesMasters/notesMaster1.xml" Id="Rdd157efe0a9544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1febccbb2472b" /><Relationship Type="http://schemas.openxmlformats.org/officeDocument/2006/relationships/notesMaster" Target="/ppt/notesMasters/notesMaster1.xml" Id="Rea259d5a33cd4b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5573087f9e487d" /><Relationship Type="http://schemas.openxmlformats.org/officeDocument/2006/relationships/notesMaster" Target="/ppt/notesMasters/notesMaster1.xml" Id="R73da8b7cc37648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5cf90f875b4910" /><Relationship Type="http://schemas.openxmlformats.org/officeDocument/2006/relationships/notesMaster" Target="/ppt/notesMasters/notesMaster1.xml" Id="R8d4c6e4c8ba64c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438cc2ce642bb" /><Relationship Type="http://schemas.openxmlformats.org/officeDocument/2006/relationships/notesMaster" Target="/ppt/notesMasters/notesMaster1.xml" Id="R5b7a0ea81e96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70524c7b048d8" /><Relationship Type="http://schemas.openxmlformats.org/officeDocument/2006/relationships/notesMaster" Target="/ppt/notesMasters/notesMaster1.xml" Id="R87f2c69a5b8e46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c7b8301d841fb" /><Relationship Type="http://schemas.openxmlformats.org/officeDocument/2006/relationships/notesMaster" Target="/ppt/notesMasters/notesMaster1.xml" Id="Rb3189a1ab67944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4f9f8799ae44c2" /><Relationship Type="http://schemas.openxmlformats.org/officeDocument/2006/relationships/notesMaster" Target="/ppt/notesMasters/notesMaster1.xml" Id="R0516ab8918a640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79d0f8e6464f3d" /><Relationship Type="http://schemas.openxmlformats.org/officeDocument/2006/relationships/notesMaster" Target="/ppt/notesMasters/notesMaster1.xml" Id="R1c85e2026e3a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341e4f1bd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4d5f63e9b4b13" /><Relationship Type="http://schemas.openxmlformats.org/officeDocument/2006/relationships/slideLayout" Target="/ppt/slideLayouts/slideLayout1.xml" Id="R284753b468d346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753b468d346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939930765463f" /><Relationship Type="http://schemas.openxmlformats.org/officeDocument/2006/relationships/notesSlide" Target="/ppt/notesSlides/notesSlide1.xml" Id="R54c1652e829b42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12248618c49dd" /><Relationship Type="http://schemas.openxmlformats.org/officeDocument/2006/relationships/notesSlide" Target="/ppt/notesSlides/notesSlide2.xml" Id="R1ffd0aa6b6d0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2cdaa4aa34812" /><Relationship Type="http://schemas.openxmlformats.org/officeDocument/2006/relationships/notesSlide" Target="/ppt/notesSlides/notesSlide3.xml" Id="Rb17e2ea7ee27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c659c60284548" /><Relationship Type="http://schemas.openxmlformats.org/officeDocument/2006/relationships/notesSlide" Target="/ppt/notesSlides/notesSlide4.xml" Id="Rf069c89dc0964e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0e387655341ea" /><Relationship Type="http://schemas.openxmlformats.org/officeDocument/2006/relationships/notesSlide" Target="/ppt/notesSlides/notesSlide5.xml" Id="Rff0494d01d8c44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6e145c59d40bf" /><Relationship Type="http://schemas.openxmlformats.org/officeDocument/2006/relationships/notesSlide" Target="/ppt/notesSlides/notesSlide6.xml" Id="Rb843e93b0c8c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54cf234cf460b" /><Relationship Type="http://schemas.openxmlformats.org/officeDocument/2006/relationships/notesSlide" Target="/ppt/notesSlides/notesSlide7.xml" Id="R07c0dc0c419148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4a5bcf1074bb0" /><Relationship Type="http://schemas.openxmlformats.org/officeDocument/2006/relationships/notesSlide" Target="/ppt/notesSlides/notesSlide8.xml" Id="R4389737bc1a9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cf5a0d9948d5" /><Relationship Type="http://schemas.openxmlformats.org/officeDocument/2006/relationships/notesSlide" Target="/ppt/notesSlides/notesSlide9.xml" Id="R86dd4d363f1f4f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b195de2c94029" /><Relationship Type="http://schemas.openxmlformats.org/officeDocument/2006/relationships/notesSlide" Target="/ppt/notesSlides/notesSlide10.xml" Id="R360ddfc38eb14c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df3c3e2284a0a" /><Relationship Type="http://schemas.openxmlformats.org/officeDocument/2006/relationships/notesSlide" Target="/ppt/notesSlides/notesSlide11.xml" Id="R0afbcca290d0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c04ec2f754f9a" /><Relationship Type="http://schemas.openxmlformats.org/officeDocument/2006/relationships/notesSlide" Target="/ppt/notesSlides/notesSlide12.xml" Id="Re0bbf65f3f40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0C689-16FC-4BB0-9659-9E9B93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B56D"/>
                </a:solidFill>
              </a:defRPr>
            </a:pPr>
            <a:r>
              <a:rPr sz="1125" b="1">
                <a:solidFill>
                  <a:srgbClr val="D7B56D"/>
                </a:solidFill>
              </a:rPr>
              <a:t>PORTFOLIO WEB PRD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28076-EA75-410C-84F6-87EF899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1E8"/>
                </a:solidFill>
              </a:defRPr>
            </a:pPr>
            <a:r>
              <a:rPr sz="4350" b="1">
                <a:solidFill>
                  <a:srgbClr val="F4F1E8"/>
                </a:solidFill>
              </a:rPr>
              <a:t>上升履历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3BF4-02A0-449D-B1F5-6179B70A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1E8"/>
                </a:solidFill>
              </a:defRPr>
            </a:pPr>
            <a:r>
              <a:rPr sz="3600" b="1">
                <a:solidFill>
                  <a:srgbClr val="F4F1E8"/>
                </a:solidFill>
              </a:rPr>
              <a:t>电梯式交互作品集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56F86-CA5E-44FF-9669-24B5218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A39A"/>
                </a:solidFill>
              </a:defRPr>
            </a:pPr>
            <a:r>
              <a:rPr sz="1650" b="0">
                <a:solidFill>
                  <a:srgbClr val="A9A39A"/>
                </a:solidFill>
              </a:rPr>
              <a:t>用于对接产品经理、品牌策略、新媒体运营三个求职方向的网页与 PPT 需求文档。核心隐喻：楼梯 / 电梯 / 攀岩，表达稳步上升、主动探索与持续抵达。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E244-A8E0-4A52-9775-78CA15C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85800"/>
            <a:ext cx="3143250" cy="5334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4F665-1997-4336-B896-F6E5387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52500"/>
            <a:ext cx="2647950" cy="48006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6B190-CAE9-4838-A21F-EA9D7698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00150"/>
            <a:ext cx="2228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4BB69-BD6D-485C-B7DF-CE47BB6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04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9B2B5-C907-4BE5-98A6-BA8A2CC1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3049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9D5C3-9057-48EB-BDF7-D795054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1114425" cy="32575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B367C-2DEF-46D1-9D16-2706C2C1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09750"/>
            <a:ext cx="1114425" cy="32575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71933-8EC1-47B1-9ACB-621829D3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1619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646CF-5093-474A-BB56-571CE58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进入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38983-5E5D-47EF-BF1E-DEDDA8A6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24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700E1-118C-4817-87A3-B44A9082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76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05FEA-6892-4B04-8801-759B69A3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BF0CE-2FEE-419A-8593-D1669032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B56D"/>
                </a:solidFill>
              </a:defRPr>
            </a:pPr>
            <a:r>
              <a:rPr sz="1125" b="1">
                <a:solidFill>
                  <a:srgbClr val="D7B56D"/>
                </a:solidFill>
              </a:rPr>
              <a:t>产品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366F2-669F-4FC8-9D52-67B23D0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9C26E-5AE2-4DBA-9CC4-9CD7EBB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D54C1-B7D5-4DF6-A3FB-5500E0A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295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52D93-347C-4DF3-8B25-D8DB824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9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策划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E3083-8930-4E77-89D9-E5219745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52950"/>
            <a:ext cx="1295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C244B-AD6A-4A00-BFB4-CF50B64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其他惊喜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054CB-1AA4-4A08-8B0F-24769EE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A5482-3E7B-4FF4-8EF3-6F2ADB12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2493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D6959-883D-4FBE-9953-1FFA74EE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项目目标与评审范围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0FBC0-42FC-4A50-9202-CD61BF8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项目目标与评审范围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8472-598C-4318-81D4-EDA8314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44B39-E1FC-4A51-8583-B136437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3EF03-55EE-4A3F-9BC3-2E1D98D0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42900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4AB4A-A438-4995-8792-56AE580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目标用户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9F36D-E629-4D3B-AB95-1905A839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产品经理面试官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7E460-1B51-48D9-ABC0-5306AE57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品牌策略 / 市场策划面试官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01A8-B4A8-4319-984D-BB7A328E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新媒体运营与内容团队负责人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C637C-A469-4BBC-B68C-2E80AC29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快速浏览作品集的 HR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43FA-4D8A-4B66-BF69-4D85A185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429000" cy="33909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7CFF4-071D-4AE6-99CE-6B1879C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页面目标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591EB-9361-4F0D-9073-10EA8A08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3 分钟内理解求职方向与能力结构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8CADC-DF5D-40F2-8954-B5608D1E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点击任意楼层能看见代表作品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6E7E6-A15C-4445-BEB3-3217543E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用交互记忆点降低作品集同质化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76A0D-E248-401F-BAB3-4DE641CD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留下可继续追问的项目证据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51DD9-2B4D-488B-9642-FB3A4C7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2857500" cy="33909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3EE4D-812A-4F42-937C-BCD3938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本轮范围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080E3-F222-4A41-ACAA-F16997C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进入页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C041C-C8FD-40F7-9FED-7DC6523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导览行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5B4AA-0F66-4CA2-BA8A-1877149E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四个分板块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A8B5C-964E-48EA-A269-28D4EFEA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尾部结尾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0BA66-9D26-427D-9D33-8657C28B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返回 / 切换 icon</a:t>
            </a:r>
          </a:p>
        </p:txBody>
      </p:sp>
    </p:spTree>
    <p:extLst>
      <p:ext uri="{BB962C8B-B14F-4D97-AF65-F5344CB8AC3E}">
        <p14:creationId xmlns:p14="http://schemas.microsoft.com/office/powerpoint/2010/main" val="114082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987748-C219-4F30-9687-E42366E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导览行与信息架构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B2AC5-9B95-4414-814A-1B5BA42B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导览行与信息架构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EC2A3-5AA0-4488-87F2-D4616CEB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24368-39CD-4E86-A341-E0F9679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A18E4-E157-4572-878D-2B7F6DA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A39A"/>
                </a:solidFill>
              </a:defRPr>
            </a:pPr>
            <a:r>
              <a:rPr sz="1575" b="0">
                <a:solidFill>
                  <a:srgbClr val="A9A39A"/>
                </a:solidFill>
              </a:rPr>
              <a:t>全局导览固定在右侧：默认窄态显示楼层与能力核心，悬浮时出现毛玻璃预览卡，点击后跳转对应楼层。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8CCFB-33BA-4805-8197-7A206F49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66950" cy="25717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6DB6A-CC0F-4B80-946C-9546D7E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B56D"/>
                </a:solidFill>
              </a:defRPr>
            </a:pPr>
            <a:r>
              <a:rPr sz="1875" b="1">
                <a:solidFill>
                  <a:srgbClr val="D7B56D"/>
                </a:solidFill>
              </a:rPr>
              <a:t>01F 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3F5CD-5C8C-42F0-B1A1-EFFE801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需求洞察 / 用户路径 / 原型表达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47F1-8A24-495F-B231-2A7F58D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适配产品经理岗位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2B1EE-8885-44B3-844D-649D2D95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2266950" cy="25717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D90F4-F080-41C7-80E1-FEAD116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B56D"/>
                </a:solidFill>
              </a:defRPr>
            </a:pPr>
            <a:r>
              <a:rPr sz="1875" b="1">
                <a:solidFill>
                  <a:srgbClr val="D7B56D"/>
                </a:solidFill>
              </a:rPr>
              <a:t>02F 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9FACB-6A61-4DC8-B284-3BE0206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选题策划 / 内容编辑 / 传播复盘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21D31-BBFC-458B-AFB8-07E1B50D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适配新媒体运营岗位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02CB1-915E-422A-A53E-7649112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2266950" cy="25717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8BB58-B0FE-4346-A232-AD207F49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90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B56D"/>
                </a:solidFill>
              </a:defRPr>
            </a:pPr>
            <a:r>
              <a:rPr sz="1875" b="1">
                <a:solidFill>
                  <a:srgbClr val="D7B56D"/>
                </a:solidFill>
              </a:rPr>
              <a:t>03F 策划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C37CF-97E9-49AD-A563-27FB98B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品牌策略 / 活动机制 / 落地节奏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22AFC-1557-40F7-8473-1A87CB1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适配品牌策略岗位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4FE1C-C839-43C3-906F-61DD061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266950" cy="25717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DCC3F-7016-405D-90A3-7127D8D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B56D"/>
                </a:solidFill>
              </a:defRPr>
            </a:pPr>
            <a:r>
              <a:rPr sz="1875" b="1">
                <a:solidFill>
                  <a:srgbClr val="D7B56D"/>
                </a:solidFill>
              </a:rPr>
              <a:t>04F 惊喜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C1A34-A6A6-45DE-A18F-6643C983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</a:defRPr>
            </a:pPr>
            <a:r>
              <a:rPr sz="1500" b="0">
                <a:solidFill>
                  <a:srgbClr val="F4F1E8"/>
                </a:solidFill>
              </a:rPr>
              <a:t>跨界学习 / 工具能力 / 体验审美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E42E0-DB11-4F45-A9D2-5D67568C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增强记忆点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FA869-7AC8-4854-8DDC-D96AE2F4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B86D9-BD4C-4CB2-A45D-644D003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F3FA0-ADF4-42B3-95FD-785197D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A025C-E42D-4ED3-9EBB-219B21C4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03300-F6B0-485B-84D7-8AD58A4E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3F888-172B-4A27-BF80-8847087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19F78-2852-41A7-B5F0-5802B85A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5329A-2FDF-4C85-B2E2-45437A1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C98F9-9CD5-45C2-A1DF-D958414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BFA80-1AF6-4080-9EF1-74BE2F6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44C6A-A2F4-402D-A220-0AF0DD7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9AA04-C435-486E-A865-72E295A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2035814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51B28-823D-450F-9A4C-F2B7D8AA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总体设计：空间、动线、节奏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6AC7-94C5-43A1-8DE4-7D769D5A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总体设计：空间、动线、节奏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D9E20-7078-43C8-B6E2-B4C4C34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432F7-183F-49BA-BEA4-8747187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403AD-733A-48DE-BF82-94F9182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171950" cy="37719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090A0B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33A5B-0A05-4509-A6D7-4187C41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857500" cy="32575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DB18B-19EF-44E9-8645-A08D019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2362200" cy="272415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79A4-E131-442D-B79D-500BF3CC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1943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8F2E-32DA-4573-A3DC-E846095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717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01F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9D9E1-4C5D-4F8B-92A9-A477B289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717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44D78-01F5-4782-B9C1-78485B0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971550" cy="1181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BA0C6-3C3D-4DED-9A5F-DCBAA9E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971550" cy="1181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9EA7F-B29B-4EED-9D21-3DE33FE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1333500" cy="1428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54D80-5C57-4DEA-81CB-A120024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102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产品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2A0CC-5A68-479F-9005-3335DB2D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910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6F0B4-36B7-444D-A533-BC80491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F606A-1504-4107-A290-8F53DA75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04950"/>
            <a:ext cx="5334000" cy="37719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30BFB-5C09-4C82-92F1-BF0E912F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28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1E8"/>
                </a:solidFill>
              </a:defRPr>
            </a:pPr>
            <a:r>
              <a:rPr sz="2400" b="1">
                <a:solidFill>
                  <a:srgbClr val="F4F1E8"/>
                </a:solidFill>
              </a:rPr>
              <a:t>右侧内容区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79A8F-5C5C-4F3D-B2AE-3D225D9B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A39A"/>
                </a:solidFill>
              </a:defRPr>
            </a:pPr>
            <a:r>
              <a:rPr sz="1500" b="0">
                <a:solidFill>
                  <a:srgbClr val="A9A39A"/>
                </a:solidFill>
              </a:rPr>
              <a:t>每一屏承载一个主要能力主题：标题、项目一句话、过程证据、作品入口。文字不堆满，让电梯打开后的图片与证据成为记忆点。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8D200-0EC5-491D-B422-DD152A4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624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1C3FF-736C-4907-9E16-EDCEFD3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290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B56D"/>
                </a:solidFill>
              </a:defRPr>
            </a:pPr>
            <a:r>
              <a:rPr sz="1125" b="1">
                <a:solidFill>
                  <a:srgbClr val="D7B56D"/>
                </a:solidFill>
              </a:rPr>
              <a:t>左侧电梯 40%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5F151-1B30-4746-A1B8-4C1009C6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D5AB1-E62A-465A-91AD-00B071DD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右侧叙事 60%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BD7F2-AB70-4BFD-9AE5-2756FA35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1657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9AA73-FB80-4EFC-809B-F58DCFE4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29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右边缘楼层导览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A235B-6EFD-4161-A25F-61439C7B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A636F-A573-4D8D-9BBA-B989A91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D5550-F64D-4B56-BA11-24CA2E2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A3E38-7496-4B2C-8064-9C188A6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3981C-8EE7-4B05-BB24-A735615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D3238-6174-4E17-982C-216C6F0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041833-EF78-4C7C-B6EB-BB6E7CC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FF1C1F-112C-4F8A-91BC-9175664E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27492-A593-48DD-8952-6995DD4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F30C5-D03F-4681-A75C-F28DF8D1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102E8-60C4-427A-9EA3-226B8B7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F06614-F02A-4CD0-B3DD-3958FD7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1983799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6BA28-499C-4B7E-A896-C795A153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核心交互流程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571AC-6711-4841-A09B-230B8875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核心交互流程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59AF5-009F-42B7-AB87-9059B5DE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D2D5-5EDB-47A0-A293-9A49407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ED893-B464-491F-8055-B2C50688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695450" cy="24003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AABD3-31C9-46B0-A873-26383B3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B56D"/>
                </a:solidFill>
              </a:defRPr>
            </a:pPr>
            <a:r>
              <a:rPr sz="2850" b="1">
                <a:solidFill>
                  <a:srgbClr val="D7B56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1F8ED-22E3-42AC-BBED-AD55AC1D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滚轮上滑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724A0-A4FC-42E3-B386-707059E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页面向上翻页，电梯同步上升，两侧出现轻微运动模糊。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14431-6EAC-4C38-9DB4-19AFB8E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81200"/>
            <a:ext cx="1695450" cy="24003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3CF88-46F1-4F34-B507-C3A5B4F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B56D"/>
                </a:solidFill>
              </a:defRPr>
            </a:pPr>
            <a:r>
              <a:rPr sz="2850" b="1">
                <a:solidFill>
                  <a:srgbClr val="D7B56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C44AF-7B7C-433F-A4A3-B1B87ED4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抵达楼层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524E2-54CC-46AE-8865-0A3CB13A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电梯停稳，楼层数字更新，门自动打开。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93CFB-B12F-4B0C-94DD-9D88A31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81200"/>
            <a:ext cx="1695450" cy="24003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44F57-85B4-4489-9D6F-6491250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B56D"/>
                </a:solidFill>
              </a:defRPr>
            </a:pPr>
            <a:r>
              <a:rPr sz="2850" b="1">
                <a:solidFill>
                  <a:srgbClr val="D7B56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5B231-B3D4-41EA-AA68-7CF35B4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展示作品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D9B88-2720-45A7-93E4-85B1CD2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电梯内部出现作品图片、过程截图或代表成果。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1CD8B-D9A3-4C80-B723-4CB650FA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1695450" cy="24003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6BB9E-9ED8-4090-8EDB-98D5C021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B56D"/>
                </a:solidFill>
              </a:defRPr>
            </a:pPr>
            <a:r>
              <a:rPr sz="2850" b="1">
                <a:solidFill>
                  <a:srgbClr val="D7B56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27864-E604-4E08-A471-051881B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悬浮导览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85A87-8E85-40E9-8D18-40223D82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95650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屏幕毛玻璃化，弹出当前楼层梗概与核心能力。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77ED2-2B2F-48EE-949D-17209FB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695450" cy="24003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C3413-E9FB-43AF-83FA-CB0F023C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B56D"/>
                </a:solidFill>
              </a:defRPr>
            </a:pPr>
            <a:r>
              <a:rPr sz="2850" b="1">
                <a:solidFill>
                  <a:srgbClr val="D7B56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60440-C691-481C-9777-2F2FB7AE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1E8"/>
                </a:solidFill>
              </a:defRPr>
            </a:pPr>
            <a:r>
              <a:rPr sz="1800" b="1">
                <a:solidFill>
                  <a:srgbClr val="F4F1E8"/>
                </a:solidFill>
              </a:rPr>
              <a:t>点击跳转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CAD64-EC52-46DE-80CE-FE07A4D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导览点击后快速定位，同时保持楼层状态一致。</a:t>
            </a:r>
          </a:p>
        </p:txBody>
      </p:sp>
    </p:spTree>
    <p:extLst>
      <p:ext uri="{BB962C8B-B14F-4D97-AF65-F5344CB8AC3E}">
        <p14:creationId xmlns:p14="http://schemas.microsoft.com/office/powerpoint/2010/main" val="749315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DC9D0-FD40-41AE-A764-C5503EA3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分板块：产品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546B7-5DA1-47E8-99E6-7430907C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分板块：产品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8946F-53F1-41F3-A967-252042E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B0371-5F22-44D3-B28B-04AB3F4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D4E9-2E40-470B-BEA7-5E799CE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238500" cy="405765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700DC-5AA5-468B-9526-6AE3ADE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43200" cy="352425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C8231-22F8-487B-B359-66802BA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24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1447B-7223-4506-97D2-342A1DE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01F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9C972-A597-4127-9B14-358779C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05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5D41E-41FF-4024-AB67-8CAE1704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7BD9F-CD00-49AE-8830-3EE29FF9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A52B8-4935-4C6A-9CF3-654010DF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1714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6D8BB-7D1E-4949-B4C5-62877F2D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B589C-E22E-4DA8-A65B-01E0613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74B3F-980A-4572-A1CB-BC8199B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04E5E-606E-49E2-9996-F612D90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B56D"/>
                </a:solidFill>
              </a:defRPr>
            </a:pPr>
            <a:r>
              <a:rPr sz="1350" b="1">
                <a:solidFill>
                  <a:srgbClr val="D7B56D"/>
                </a:solidFill>
              </a:rPr>
              <a:t>产品经理方向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E96C8-6F66-442C-B064-DF1B9F60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1E8"/>
                </a:solidFill>
              </a:defRPr>
            </a:pPr>
            <a:r>
              <a:rPr sz="2625" b="1">
                <a:solidFill>
                  <a:srgbClr val="F4F1E8"/>
                </a:solidFill>
              </a:rPr>
              <a:t>把问题变成可执行的路径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46F82-864B-4788-90C2-79F21976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0D073-C0D2-405C-85D3-90172565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内容模块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FD3FA-5FA9-43B1-82F5-3ABD735E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项目背景与用户痛点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9A116-81AC-4CCA-A322-4C8A1DE7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需求拆解与优先级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67787-3DFD-4989-B154-498BFE39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用户旅程 / 原型 / PRD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40B12-4B85-4A06-A144-C66BB0DF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结果、复盘与可追问证据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B8DF5-64E4-436D-8FC4-46A6155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571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0D65A-346C-4BD7-BE8E-3D01F05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核心能力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0257E-CBC8-4517-97AA-AE0D64C4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需求洞察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8A34A1-AB16-4A14-A0D9-175B7CBD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结构化表达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43772-8489-4CB5-8341-69B6E79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推动落地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49889-55A0-4144-98C7-3EC2603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21B73-D0D9-41B3-9354-BEF3BDD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6B1E8-8092-497C-91ED-90F1684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23EE1-7578-428A-A089-37F7C9B9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4B213-6B3A-4709-99C4-FE7078EC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9FEBF-424C-4713-A7FE-D1F1940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C8F54-B1B2-43FC-8C2F-FC64DB6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36E665-FCD1-47CE-9963-96FC3D8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A33755-79D0-475A-A67F-A7D7114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373FDF-DF60-4C9E-B67B-2858CE56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76FA9A-58C6-4494-9248-FA29D95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B09D6B-7090-4228-9A0B-8865C37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983615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E1FBB-7EEC-453A-B6C6-9FA6AC52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分板块：内容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CCBE7-A024-47DE-B6F6-A6C8DB7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分板块：内容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25727-B585-47B0-B0B9-477E2ED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B286A-2098-4313-AE66-BACBCD9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ECB2-3CCB-4E12-8109-D02F987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238500" cy="405765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66394-4FCA-4B5F-8A7B-D668221C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43200" cy="352425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FFF0F-283E-45BC-9BEE-94ED65F1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24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9373D-B232-4629-AC3C-87CEB8E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02F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FC38C-0C4A-4F27-B38B-293019A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05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86967-DCE0-44F1-BCF6-73E0494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217D1-4E0F-4A26-A9AB-C749EA9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D00F-047D-4900-A5CD-DCF8FEA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1714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78E76-FA37-4C85-9806-369E85B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F454E-7BCB-4C0D-803D-713BA82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0E6C0-6147-4FB2-B9ED-BF3AED4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22E0F-7EC3-4181-A482-E0DD01A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B56D"/>
                </a:solidFill>
              </a:defRPr>
            </a:pPr>
            <a:r>
              <a:rPr sz="1350" b="1">
                <a:solidFill>
                  <a:srgbClr val="D7B56D"/>
                </a:solidFill>
              </a:rPr>
              <a:t>新媒体运营方向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CE525-590A-48A8-A52B-9174FA32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1E8"/>
                </a:solidFill>
              </a:defRPr>
            </a:pPr>
            <a:r>
              <a:rPr sz="2625" b="1">
                <a:solidFill>
                  <a:srgbClr val="F4F1E8"/>
                </a:solidFill>
              </a:rPr>
              <a:t>让信息被看见、被理解、被记住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2F8F4-1D63-411D-A038-2828FC8D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B312B-CF9A-4FBC-A474-2918287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内容模块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D6E36-50A7-4783-96E2-E4A26FD3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账号定位与用户画像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12971-AA0B-4227-8687-608C477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选题池与栏目规划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308C6-F56F-4FE3-B70A-BF12D00A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图文 / 视频脚本 / 视觉稿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7AB0E-CCAC-4582-AECF-58AEE0B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数据复盘与下一轮优化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29620-3DF0-4621-90A9-759BDAF9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571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C487A-6564-486B-8866-21F6ABE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核心能力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9A8F7-E42A-449E-AFA1-5A9BF9E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选题策划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0ABFA-71EF-4007-AC1E-AA254B78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内容生产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BA071-5A0A-45A9-98EC-B903281D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传播复盘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0F9E2-4118-4629-BA83-0FCFFAB4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F45DD-B03E-4406-9316-07AE6998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71270-13FF-4A6B-A4B6-54819FA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F1FC1-DF67-4908-8056-6C2AAED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35BA9A-7F29-4653-86D8-1DE16B6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E76C5-622B-4EF0-9364-AE8D6A8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D53323-C035-4CC2-BCCA-60F8EB9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31F6AB-F346-4F1B-ADA4-C80442EA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C2571-1018-4335-8402-9E2EB95E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08AD8D-D43D-4E09-8F30-5F4F0AC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72472-F525-4405-9991-2E88ACCB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44B6D6-FFE7-4147-A778-C297904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1274622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91BD6-A669-4E99-B178-5E790EF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分板块：策划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88B39-59C8-4854-98E6-25D8BAD3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分板块：策划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02000-D6A2-47E0-896A-E5F04D18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D2C35-7677-475F-A842-F5AAAAB2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039F8-7283-4575-BF27-65EC1538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238500" cy="405765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6B774-3853-4B0F-A80E-F3B614E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43200" cy="352425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52AB-8937-41A3-81B8-10BAB09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24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0BB05-1E18-4BAB-8F6B-F3FC41D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03F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6491F-B4E8-4911-BBAB-A654832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05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AD9C7-ED09-4C2D-B7C1-79018C49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33835-4336-4D29-B109-021BCF74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8CB5B-6D30-47C2-AD1A-6D665DC9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1714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BAD77-834B-4AC5-B06A-A7E1FEF8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策划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5B1DF-5D8F-4444-8B60-CAFC3DB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574D8-8378-49A7-9FAC-443C649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50E17-C622-4379-80CD-2EC44F6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B56D"/>
                </a:solidFill>
              </a:defRPr>
            </a:pPr>
            <a:r>
              <a:rPr sz="1350" b="1">
                <a:solidFill>
                  <a:srgbClr val="D7B56D"/>
                </a:solidFill>
              </a:rPr>
              <a:t>品牌策略方向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A8A0F-C952-42FE-B62A-2A3949EB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1E8"/>
                </a:solidFill>
              </a:defRPr>
            </a:pPr>
            <a:r>
              <a:rPr sz="2625" b="1">
                <a:solidFill>
                  <a:srgbClr val="F4F1E8"/>
                </a:solidFill>
              </a:rPr>
              <a:t>把品牌意图转化为行动方案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FEB73-BB64-4FC0-BE21-70D94677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B7740-15F2-4915-8B4D-54E55C5E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内容模块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EE411-FCC2-437D-AF88-713DD9F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品牌目标与市场洞察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0DC28-F2BF-4BAC-846B-C71B2540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核心策略与传播主张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E19AB-E742-4141-8DF5-87685D1B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活动机制与触点设计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72DB9-F2C9-479B-8B40-5A321239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执行节奏与风险预案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56879-67A8-41F9-8C57-67632E63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571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A19C6-5FC5-4EEC-BF6D-2F6D602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核心能力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3FFB0-F949-4B3E-B0DE-E190CF19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品牌理解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53878-15B5-4330-822C-3BB0682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活动设计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4C5EA-3E20-46CA-9A49-E54D19D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项目统筹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315CC-43BD-4779-9E29-40A0EFE3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9CAE3-2431-4DE9-8B9A-8DAEC0E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DC57D-0BB9-4D22-BCB4-97B022A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659A2-B12E-4F0D-8294-301CDEC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06673D-7A92-4235-B2E9-76EA8C6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B3367-D192-446E-95DD-AA00C18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69F48-0470-41FD-AB14-CA7C569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3D5488-A734-4C45-BC1D-5FBBA2DC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FC54E4-587E-4E95-9178-CFFF58A3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BC63B-E927-475A-868F-EFC98DED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52C77-E6CD-49F8-8FF9-90DF38C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B9A7A0-D990-4FA8-A1FB-8E6B5D3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1273990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C4260-FB0D-4695-890A-2DA8E45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分板块：其他惊喜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C5317-3479-4AE8-A7BF-BB0BBBEC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分板块：其他惊喜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D5155-75B7-42DB-B56F-482428A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42393-7ABD-43A0-BB26-F6C4A452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4489D-37ED-45FE-B561-05B865A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238500" cy="405765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8090B"/>
          </a:solidFill>
          <a:ln xmlns:a="http://schemas.openxmlformats.org/drawingml/2006/main" w="9525">
            <a:solidFill>
              <a:srgbClr val="28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89974-42A0-469E-A1AB-BE25A38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743200" cy="352425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D1F24"/>
          </a:solidFill>
          <a:ln xmlns:a="http://schemas.openxmlformats.org/drawingml/2006/main" w="9525">
            <a:solidFill>
              <a:srgbClr val="494B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5869-53AF-4C23-B48F-1BE8DE1A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24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0808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06696-A9A8-474F-AB53-5AA35D7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B56D"/>
                </a:solidFill>
              </a:defRPr>
            </a:pPr>
            <a:r>
              <a:rPr sz="1200" b="1">
                <a:solidFill>
                  <a:srgbClr val="D7B56D"/>
                </a:solidFill>
              </a:rPr>
              <a:t>04F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8F7BC-461E-4436-8B42-D11EE934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05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F3B2"/>
                </a:solidFill>
              </a:defRPr>
            </a:pPr>
            <a:r>
              <a:rPr sz="1200" b="1">
                <a:solidFill>
                  <a:srgbClr val="7CF3B2"/>
                </a:solidFill>
              </a:rPr>
              <a:t>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6D54-FA7D-4F05-9D7B-4EA97B6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40434A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D848E-3E5D-486B-A44D-E520E253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09850"/>
            <a:ext cx="1162050" cy="19812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4373E"/>
          </a:solidFill>
          <a:ln xmlns:a="http://schemas.openxmlformats.org/drawingml/2006/main" w="9525">
            <a:solidFill>
              <a:srgbClr val="5E61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7AD82-33B4-4A54-BBD5-71449E1B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1714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214"/>
          </a:solidFill>
          <a:ln xmlns:a="http://schemas.openxmlformats.org/drawingml/2006/main" w="9525">
            <a:solidFill>
              <a:srgbClr val="3E34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60B27-CC41-45AE-AB95-96F6219D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其他惊喜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1C20C-D7B7-49D0-8BB1-9BBFE52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作品图片 / 过程证据 / 核心能力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0A617-2F6D-4BC0-AFA1-A4768CB3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645D"/>
                </a:solidFill>
              </a:defRPr>
            </a:pPr>
            <a:r>
              <a:rPr sz="900" b="0">
                <a:solidFill>
                  <a:srgbClr val="69645D"/>
                </a:solidFill>
              </a:rPr>
              <a:t>SAFE ASCENT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0A76B-8A31-4C29-B2D6-5FFDF00B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B56D"/>
                </a:solidFill>
              </a:defRPr>
            </a:pPr>
            <a:r>
              <a:rPr sz="1350" b="1">
                <a:solidFill>
                  <a:srgbClr val="D7B56D"/>
                </a:solidFill>
              </a:rPr>
              <a:t>复合能力展示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BCA8A-0476-406A-9C95-6C39193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1E8"/>
                </a:solidFill>
              </a:defRPr>
            </a:pPr>
            <a:r>
              <a:rPr sz="2625" b="1">
                <a:solidFill>
                  <a:srgbClr val="F4F1E8"/>
                </a:solidFill>
              </a:rPr>
              <a:t>让面试官停一下的额外证据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3754D-7B4F-4036-B075-56AC29F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143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CB7CD-6E9B-43E0-BFD5-788A1801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内容模块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F7D3D-40A6-4CF5-A295-E91B85D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跨学科项目与快速学习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03940-F2CA-45F7-B426-ADFA995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AI / 数据 / 工具使用能力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1D789-9DBA-4E25-A174-B472541C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个人创作与审美判断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7559E-0909-4462-9AFA-97B5A2D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244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可现场演示的小交互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2F152-2173-42DB-8460-A2A34502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571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02D05-36F7-4D6D-858C-7725F50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核心能力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1C6CF-790E-4A34-B960-8F27F8F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学习速度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BED63-804D-410E-B43F-22251EB1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工具意识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AEB3F-152D-41A0-8427-2E3EED03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体验审美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A2745F-E3C2-4DC1-8994-0546B27C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383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B9DD9-BB94-40CE-A900-9529502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BF4C6-D46B-48C3-906F-0DF275E5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295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产品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D17C0-0A27-4EE2-8A12-8730943A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051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408F9-776A-4018-A3E0-3E6B4B42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E0E99-725E-49A0-8A53-F839BE65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62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8E35A-B482-4282-9852-AA32132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718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0C0E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9C93C-8C51-4E1B-A26B-DE28FB5B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38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153524-AFA2-405C-BDA7-F7974538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29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策划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20884E-30C2-4EF6-9C6A-84A86605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3860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746429-A505-40FE-8EB1-F40466E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99849C-D36D-4DE2-A3F9-58F9FC1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95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1E8"/>
                </a:solidFill>
              </a:defRPr>
            </a:pPr>
            <a:r>
              <a:rPr sz="975" b="0">
                <a:solidFill>
                  <a:srgbClr val="F4F1E8"/>
                </a:solidFill>
              </a:rPr>
              <a:t>惊喜</a:t>
            </a:r>
          </a:p>
        </p:txBody>
      </p:sp>
    </p:spTree>
    <p:extLst>
      <p:ext uri="{BB962C8B-B14F-4D97-AF65-F5344CB8AC3E}">
        <p14:creationId xmlns:p14="http://schemas.microsoft.com/office/powerpoint/2010/main" val="715662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516EF-FF16-434F-9FC2-CC9B052A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返回、切换与状态 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19079-3C2B-4E28-B288-5C32D6B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返回、切换与状态 icon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B6EE7-EEFA-4585-8A96-F5E55BA7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CA09-7BA1-41AD-B364-FAB0ECED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9713F-5D3D-4A6B-A1B8-10F80903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A39A"/>
                </a:solidFill>
              </a:defRPr>
            </a:pPr>
            <a:r>
              <a:rPr sz="1575" b="0">
                <a:solidFill>
                  <a:srgbClr val="A9A39A"/>
                </a:solidFill>
              </a:rPr>
              <a:t>Icon 采用极简线性风格：暖金为可操作状态，灰白为普通状态，绿色只用于“安全到达 / 可继续浏览”的系统反馈。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1C9A5-CDA2-4EA3-B4DC-6C2613C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011F-8A26-4DCC-8F74-5CA33C96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DCDD-AE20-439E-AAF4-C9A4C9C5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返回上一层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6996B-ED2F-4FCD-A965-E6421D7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用于作品详情页返回楼层页；可配合 ESC 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D55A2-98B4-46D6-B313-841C7CE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2183F-3A71-43DB-B7A0-B366311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100AE-5781-44BF-82F2-B98A22D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上下切换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C5094-354C-4E9A-9EB5-14DDA23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67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用于楼层间切换；滚轮与键盘方向键共用逻辑。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D5CAA-251D-4A9B-9283-088190F8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563E3-99C2-4336-85AC-10C859B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5DCED-49BF-410E-87C6-2C99AC0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导览展开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66680-7BA3-4601-87DF-5864B72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用于移动端或窄屏展开楼层列表。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3CBAC-4E0C-492C-9AC5-8D7AB6F9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D8AAB-9EBF-4978-8B9D-379C0BF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D7B99-950F-4089-8133-D8256BB4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作品详情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E3A32-0899-4DFB-86E8-4420EE64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29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点击电梯内图片，进入作品过程与结果说明。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B4302-FCD3-4449-BC61-062EA8B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92C68-C61F-46BA-8615-B718C251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B2C47-20CD-4C3E-B174-36B9B0C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已抵达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8451D-3F4F-4463-A8DD-0E0985C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电梯停稳、门打开、内容加载完成。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EA5E3-3609-41EB-938E-F705E129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876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1113"/>
          </a:solidFill>
          <a:ln xmlns:a="http://schemas.openxmlformats.org/drawingml/2006/main" w="9525">
            <a:solidFill>
              <a:srgbClr val="3D3F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285C1-6F28-4791-AC0C-4022DE4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56D"/>
                </a:solidFill>
              </a:defRPr>
            </a:pPr>
            <a:r>
              <a:rPr sz="2550" b="1">
                <a:solidFill>
                  <a:srgbClr val="D7B56D"/>
                </a:solidFill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28E52-57F5-4D5E-825C-568F99F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</a:defRPr>
            </a:pPr>
            <a:r>
              <a:rPr sz="1650" b="1">
                <a:solidFill>
                  <a:srgbClr val="F4F1E8"/>
                </a:solidFill>
              </a:rPr>
              <a:t>关闭预览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E27D9-AAD2-44E7-9542-B4F3559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29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39A"/>
                </a:solidFill>
              </a:defRPr>
            </a:pPr>
            <a:r>
              <a:rPr sz="1200" b="0">
                <a:solidFill>
                  <a:srgbClr val="A9A39A"/>
                </a:solidFill>
              </a:rPr>
              <a:t>关闭毛玻璃导览预览或作品详情层。</a:t>
            </a:r>
          </a:p>
        </p:txBody>
      </p:sp>
    </p:spTree>
    <p:extLst>
      <p:ext uri="{BB962C8B-B14F-4D97-AF65-F5344CB8AC3E}">
        <p14:creationId xmlns:p14="http://schemas.microsoft.com/office/powerpoint/2010/main" val="659769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80A79-4B42-4098-B081-82D81AD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尾部结尾设计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06A62-CE79-4D19-A7E3-63FED31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尾部结尾设计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2322A-52A8-464F-A783-C77FD55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5BDEE-29E1-4300-A1BD-C4DFD5B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B009D-EA6C-4331-A325-2D086D5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47675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0C0D0F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2015C-ABB1-44D3-83B1-674C7E49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7B56D"/>
                </a:solidFill>
              </a:defRPr>
            </a:pPr>
            <a:r>
              <a:rPr sz="3150" b="1">
                <a:solidFill>
                  <a:srgbClr val="D7B56D"/>
                </a:solidFill>
              </a:rPr>
              <a:t>抵达顶层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C16B6-4749-408A-AE12-9EDBB759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A39A"/>
                </a:solidFill>
              </a:defRPr>
            </a:pPr>
            <a:r>
              <a:rPr sz="1500" b="0">
                <a:solidFill>
                  <a:srgbClr val="A9A39A"/>
                </a:solidFill>
              </a:rPr>
              <a:t>尾页不做传统“谢谢观看”，而是像电梯抵达顶层后的开放平台：给出简历下载、联系方式、作品合集入口和三个岗位方向的快速回看。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9DBBA-A7E3-4D31-AA23-01951AD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1143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9525">
            <a:solidFill>
              <a:srgbClr val="D7B5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9D426-693C-45C4-B40A-D6EF557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B56D"/>
                </a:solidFill>
              </a:defRPr>
            </a:pPr>
            <a:r>
              <a:rPr sz="1125" b="1">
                <a:solidFill>
                  <a:srgbClr val="D7B56D"/>
                </a:solidFill>
              </a:rPr>
              <a:t>下载简历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1E7CD-FD57-49D0-A962-D2DEE03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1047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DDE19-EF8D-4514-98B0-A8CDD52A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243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联系我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99E34-D216-46F5-9586-CD76C731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1143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393A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342DC-A690-49ED-9E9C-38EA5AD6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243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39A"/>
                </a:solidFill>
              </a:defRPr>
            </a:pPr>
            <a:r>
              <a:rPr sz="1125" b="0">
                <a:solidFill>
                  <a:srgbClr val="A9A39A"/>
                </a:solidFill>
              </a:rPr>
              <a:t>回到 01F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BFA9F-48DA-4D04-9752-6FA39F7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095750" cy="3009900"/>
          </a:xfrm>
          <a:prstGeom xmlns:a="http://schemas.openxmlformats.org/drawingml/2006/main" prst="roundRect">
            <a:avLst>
              <a:gd name="adj" fmla="val 1899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10C84-29B7-4EA6-B792-3BCE76CA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尾页元素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6FBED-70D8-44A6-A6C8-51B782B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一句定位：我适合怎样的问题场景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8557D-7D92-44D0-9BA6-6B25E345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三条岗位路径：产品 / 品牌 / 新媒体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E9698-03DB-48DC-B1EA-811D3EA8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作品集下载与在线链接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947E8-963B-40E0-AB20-BA1B390A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返回首页、返回上一层、重新浏览</a:t>
            </a:r>
          </a:p>
        </p:txBody>
      </p:sp>
    </p:spTree>
    <p:extLst>
      <p:ext uri="{BB962C8B-B14F-4D97-AF65-F5344CB8AC3E}">
        <p14:creationId xmlns:p14="http://schemas.microsoft.com/office/powerpoint/2010/main" val="101508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82E74-B3BC-469A-A6F0-F284D93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B56D"/>
                </a:solidFill>
              </a:defRPr>
            </a:pPr>
            <a:r>
              <a:rPr sz="1050" b="1">
                <a:solidFill>
                  <a:srgbClr val="D7B56D"/>
                </a:solidFill>
              </a:rPr>
              <a:t>下一步待确认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576C3-AE64-45AA-B4B9-01612DA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下一步待确认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81BA0-F599-49FE-8526-46C17E7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645D"/>
                </a:solidFill>
              </a:defRPr>
            </a:pPr>
            <a:r>
              <a:rPr sz="975" b="0">
                <a:solidFill>
                  <a:srgbClr val="69645D"/>
                </a:solidFill>
              </a:rPr>
              <a:t>Elevator Portfolio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4F996-9017-4023-B581-C30FF5E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B56D"/>
                </a:solidFill>
              </a:defRPr>
            </a:pPr>
            <a:r>
              <a:rPr sz="975" b="1">
                <a:solidFill>
                  <a:srgbClr val="D7B56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7F13C-0626-499A-BBA4-FB56012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143250" cy="3505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36A25-BA7C-4B3A-ADA5-967F43A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内容素材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DE79B-2526-4C3C-AF93-4E35B285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每个板块 2-3 个代表项目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21F8B-256C-4FFE-BEEA-3109DEF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每个项目 3 张以内核心图片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03908-AE42-4CD6-B69E-2989649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过程截图、数据结果、复盘文字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43AD7-656B-4860-BD7E-8D6AA5AF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简历 PDF 与联系方式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D8FF6-5DFC-4666-8C6B-3F00699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43250" cy="3505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0E84E-17B1-4EEC-A703-864FB4B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907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交互细节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D69E1-437B-4BFD-A875-B791017D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电梯开门速度与滚动节奏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5A657-714F-49AD-9921-6D0E6649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导览悬浮卡的信息密度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5A83C-80DC-4B53-A986-58D354D1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作品详情页是否弹层展示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79B25-3A5A-492F-889A-DBA1E9A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移动端是否保留电梯隐喻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D0839-8779-4F7A-A19A-B9FF8F7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35052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3335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C639C-8776-4424-9B74-B31743EA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B56D"/>
                </a:solidFill>
              </a:defRPr>
            </a:pPr>
            <a:r>
              <a:rPr sz="1800" b="1">
                <a:solidFill>
                  <a:srgbClr val="D7B56D"/>
                </a:solidFill>
              </a:rPr>
              <a:t>视觉确认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D315-E363-4451-8A20-3D877E7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黑金酒店感的高级程度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5CB40-3690-4830-B1B7-313B1AE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电梯安全感与运动模糊比例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9DB5A-28F2-4605-A46F-F61C582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字体、留白、作品图裁切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54008-D3E6-465E-99F9-60EA65D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8"/>
                </a:solidFill>
              </a:defRPr>
            </a:pPr>
            <a:r>
              <a:rPr sz="1350" b="0">
                <a:solidFill>
                  <a:srgbClr val="F4F1E8"/>
                </a:solidFill>
              </a:rPr>
              <a:t>• PPT 与网页是否同一套视觉语言</a:t>
            </a:r>
          </a:p>
        </p:txBody>
      </p:sp>
    </p:spTree>
    <p:extLst>
      <p:ext uri="{BB962C8B-B14F-4D97-AF65-F5344CB8AC3E}">
        <p14:creationId xmlns:p14="http://schemas.microsoft.com/office/powerpoint/2010/main" val="1721597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2026-06-25T12:04:40.1310000Z</dcterms:created>
  <dcterms:modified xsi:type="dcterms:W3CDTF">2026-06-25T12:04:40.1310000Z</dcterms:modified>
</coreProperties>
</file>